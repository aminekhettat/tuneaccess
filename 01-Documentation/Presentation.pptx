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58" r:id="rId7"/>
    <p:sldId id="267" r:id="rId8"/>
    <p:sldId id="259" r:id="rId9"/>
    <p:sldId id="260" r:id="rId10"/>
    <p:sldId id="269" r:id="rId11"/>
    <p:sldId id="261" r:id="rId12"/>
    <p:sldId id="271" r:id="rId13"/>
    <p:sldId id="264" r:id="rId14"/>
    <p:sldId id="270" r:id="rId15"/>
    <p:sldId id="265" r:id="rId16"/>
    <p:sldId id="268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F22471-0562-7A85-35EE-F44D1030749E}" v="855" dt="2026-02-24T07:09:27.090"/>
    <p1510:client id="{3AAE4FDC-4EBF-0AAD-6D28-F1EA1CBD72C9}" v="88" dt="2026-02-24T11:49:18.909"/>
    <p1510:client id="{4990A388-B16B-AF38-E9FC-BB9E9E717660}" v="8" dt="2026-02-24T12:48:33.854"/>
    <p1510:client id="{78A49C85-478B-F585-F23D-024A5CEDA916}" v="179" dt="2026-02-24T08:21:00.511"/>
    <p1510:client id="{A2342CFD-FA3F-4CCE-99C1-F365DB421236}" v="1323" dt="2026-02-24T12:55:15.7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2133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Objectif : présenter le projet, son architecture fonctionnelle, puis le détail de chaque bloc.
[Sources]
- ESP32 (photo) : https://mm.digikey.com/Volume0/opasdata/d220001/medias/images/425/MFG_ESP32-DEVKITC-VIE.jpg
- DRV2605L (photo) : https://cdn-shop.adafruit.com/970x728/2305-07.jpg
- Disque piézo (photo) : https://www.auroraprosci.com/image/catalog/Actuators%20and%20Sensors/Piezo%20element/Piezo-element-6.jpg
- Logo Bluetooth (CC0, PNG) : https://upload.wikimedia.org/wikipedia/commons/thumb/e/e1/Bluetooth_Figure_Mark_Logo.svg/960px-Bluetooth_Figure_Mark_Logo.svg.png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(Plan) Contenu rédigé pour la présentation.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(Contexte/objectif) Contenu rédigé pour la présentation.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ESP32 (modes basse conso) : https://www.espressif.com/sites/default/files/documentation/esp32_datasheet_en.pdf
- YIN pitch estimator : https://audition.ens.fr/adc/pdf/2002_JASA_YIN.pdf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ESP32 datasheet : https://www.espressif.com/sites/default/files/documentation/esp32_datasheet_en.pdf
- DRV2605L datasheet : https://www.ti.com/lit/ds/symlink/drv2605l.pdf
- YIN pitch estimator (référence algorithmique) : https://audition.ens.fr/adc/pdf/2002_JASA_YIN.pdf
- Images :
  - ESP32 : https://mm.digikey.com/Volume0/opasdata/d220001/medias/images/425/MFG_ESP32-DEVKITC-VIE.jpg
  - DRV2605L : https://cdn-shop.adafruit.com/970x728/2305-07.jpg
  - Piézo : https://www.auroraprosci.com/image/catalog/Actuators%20and%20Sensors/Piezo%20element/Piezo-element-6.jpg
  - TP4056 module (photo) : https://kitsguru.com/cdn/shop/products/TP4056LithiumBatteryChargingBoardChargerModuleLi-ionLED_2048x2048.jpg?v=1642664334
  - Bluetooth logo (CC0) : https://commons.wikimedia.org/wiki/File:Bluetooth_Figure_Mark_Logo.svg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ESP32 datasheet : https://www.espressif.com/sites/default/files/documentation/esp32_datasheet_en.pdf
- Images :
  - Piézo : https://www.auroraprosci.com/image/catalog/Actuators%20and%20Sensors/Piezo%20element/Piezo-element-6.jpg
  - ESP32 : https://mm.digikey.com/Volume0/opasdata/d220001/medias/images/425/MFG_ESP32-DEVKITC-VIE.jpg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BC08E-4A73-8C81-4B59-78BF99D82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EE8FC-93AA-92A6-D38E-077B76677B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6E611E-77DF-3E90-1396-554BF5A1C8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ESP32 datasheet : https://www.espressif.com/sites/default/files/documentation/esp32_datasheet_en.pdf
- Images :
  - Piézo : https://www.auroraprosci.com/image/catalog/Actuators%20and%20Sensors/Piezo%20element/Piezo-element-6.jpg
  - ESP32 : https://mm.digikey.com/Volume0/opasdata/d220001/medias/images/425/MFG_ESP32-DEVKITC-VIE.jpg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10D43-7DB4-6165-DB29-77193069B4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6867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ESP32 datasheet (ADC, DSP) : https://www.espressif.com/sites/default/files/documentation/esp32_datasheet_en.pdf
- YIN (Cheveigné &amp; Kawahara, 2002) : https://audition.ens.fr/adc/pdf/2002_JASA_YIN.pdf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455F5-A43F-6AA0-3A50-6777E37EE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70283D-B8E8-F571-49ED-5DDE9E44EE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249C5F-E150-342B-2CCE-8FC166971B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DRV2605L datasheet (ERM/LRA, I2C) : https://www.ti.com/lit/ds/symlink/drv2605l.pdf
- DRV2605L (photo) : https://cdn-shop.adafruit.com/970x728/2305-07.jpg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DAD316-0740-05EB-FF84-7E73568422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584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TP4056 datasheet : https://dlnmh9ip6v2uc.cloudfront.net/datasheets/Prototyping/TP4056.pdf
- TP4056 module (photo) : https://kitsguru.com/cdn/shop/products/TP4056LithiumBatteryChargingBoardChargerModuleLi-ionLED_2048x2048.jpg?v=1642664334
- ESP32 (modes basse conso) : https://www.espressif.com/sites/default/files/documentation/esp32_datasheet_en.pdf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24E68-C61B-A948-ED91-D16E83879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C2999B-8B59-BB6B-3B65-54EC948E67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E7B734-52DA-3B6D-00BE-8465AE54A7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TP4056 datasheet : https://dlnmh9ip6v2uc.cloudfront.net/datasheets/Prototyping/TP4056.pdf
- TP4056 module (photo) : https://kitsguru.com/cdn/shop/products/TP4056LithiumBatteryChargingBoardChargerModuleLi-ionLED_2048x2048.jpg?v=1642664334
- ESP32 (modes basse conso) : https://www.espressif.com/sites/default/files/documentation/esp32_datasheet_en.pdf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B8BEA3-C5EC-2319-808B-36BB6D9B85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5056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(Flux) Contenu rédigé pour la présentation.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ESP32 datasheet : https://www.espressif.com/sites/default/files/documentation/esp32_datasheet_en.pdf
- DRV2605L datasheet : https://www.ti.com/lit/ds/symlink/drv2605l.pdf
- TP4056 datasheet : https://dlnmh9ip6v2uc.cloudfront.net/datasheets/Prototyping/TP4056.pdf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9614" y="21464"/>
            <a:ext cx="12352680" cy="6836536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05786" y="2391048"/>
            <a:ext cx="1042089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TuneAble</a:t>
            </a:r>
            <a:r>
              <a:rPr lang="en-US" sz="4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 </a:t>
            </a:r>
            <a:endParaRPr lang="en-US" sz="4600"/>
          </a:p>
        </p:txBody>
      </p:sp>
      <p:sp>
        <p:nvSpPr>
          <p:cNvPr id="4" name="Text 2"/>
          <p:cNvSpPr/>
          <p:nvPr/>
        </p:nvSpPr>
        <p:spPr>
          <a:xfrm>
            <a:off x="875243" y="3305991"/>
            <a:ext cx="1042089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accordeur d'instruments adapté aux personnes non-voyantes / malvoyantes</a:t>
            </a:r>
            <a:endParaRPr lang="en-US" sz="180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B5F369E-083F-CED8-882B-E4DD2E980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98048AF7-2D51-C647-4DDE-D14E69FA6C78}"/>
              </a:ext>
            </a:extLst>
          </p:cNvPr>
          <p:cNvSpPr/>
          <p:nvPr/>
        </p:nvSpPr>
        <p:spPr>
          <a:xfrm>
            <a:off x="731520" y="5148942"/>
            <a:ext cx="2501537" cy="957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: </a:t>
            </a:r>
          </a:p>
          <a:p>
            <a:r>
              <a:rPr lang="fr-FR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Manuelle WAFEU </a:t>
            </a:r>
          </a:p>
          <a:p>
            <a:r>
              <a:rPr lang="fr-FR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Yannis NGAKO</a:t>
            </a:r>
            <a:endParaRPr lang="en-US">
              <a:solidFill>
                <a:srgbClr val="DCE7F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13" name="Picture 4" descr="logo_polytech.png">
            <a:extLst>
              <a:ext uri="{FF2B5EF4-FFF2-40B4-BE49-F238E27FC236}">
                <a16:creationId xmlns:a16="http://schemas.microsoft.com/office/drawing/2014/main" id="{13EDFE79-92BD-0295-20B7-1740EDB2B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446" y="228600"/>
            <a:ext cx="2055106" cy="640080"/>
          </a:xfrm>
          <a:prstGeom prst="rect">
            <a:avLst/>
          </a:prstGeom>
        </p:spPr>
      </p:pic>
      <p:pic>
        <p:nvPicPr>
          <p:cNvPr id="14" name="Picture 5" descr="logo_ups.png">
            <a:extLst>
              <a:ext uri="{FF2B5EF4-FFF2-40B4-BE49-F238E27FC236}">
                <a16:creationId xmlns:a16="http://schemas.microsoft.com/office/drawing/2014/main" id="{08E5550D-EE60-8602-4224-9BBB996FA6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7010" y="228600"/>
            <a:ext cx="1817979" cy="640080"/>
          </a:xfrm>
          <a:prstGeom prst="rect">
            <a:avLst/>
          </a:prstGeom>
        </p:spPr>
      </p:pic>
      <p:pic>
        <p:nvPicPr>
          <p:cNvPr id="15" name="Picture 6" descr="Logo_rectangle_blindsystems (300x200).png">
            <a:extLst>
              <a:ext uri="{FF2B5EF4-FFF2-40B4-BE49-F238E27FC236}">
                <a16:creationId xmlns:a16="http://schemas.microsoft.com/office/drawing/2014/main" id="{77E27F69-86B1-B0F5-F275-A1C9FD168D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9940" y="228600"/>
            <a:ext cx="960120" cy="640080"/>
          </a:xfrm>
          <a:prstGeom prst="rect">
            <a:avLst/>
          </a:prstGeom>
        </p:spPr>
      </p:pic>
      <p:sp>
        <p:nvSpPr>
          <p:cNvPr id="16" name="Text 2">
            <a:extLst>
              <a:ext uri="{FF2B5EF4-FFF2-40B4-BE49-F238E27FC236}">
                <a16:creationId xmlns:a16="http://schemas.microsoft.com/office/drawing/2014/main" id="{282EC391-20B6-D3CF-61A7-6805F2F14276}"/>
              </a:ext>
            </a:extLst>
          </p:cNvPr>
          <p:cNvSpPr/>
          <p:nvPr/>
        </p:nvSpPr>
        <p:spPr>
          <a:xfrm>
            <a:off x="8696597" y="4985656"/>
            <a:ext cx="2501537" cy="9579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fr-FR">
                <a:solidFill>
                  <a:srgbClr val="DCE7F5"/>
                </a:solidFill>
                <a:latin typeface="Calibri"/>
                <a:ea typeface="Calibri"/>
                <a:cs typeface="Calibri"/>
              </a:rPr>
              <a:t>Encadreur: </a:t>
            </a:r>
          </a:p>
          <a:p>
            <a:r>
              <a:rPr lang="fr-FR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Amine KHETTAT</a:t>
            </a:r>
            <a:endParaRPr lang="en-US">
              <a:solidFill>
                <a:srgbClr val="DCE7F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1042416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1. </a:t>
            </a:r>
            <a:r>
              <a:rPr lang="en-US" sz="2200" b="1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Contexte</a:t>
            </a:r>
            <a:r>
              <a:rPr lang="en-US" sz="22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&amp; </a:t>
            </a:r>
            <a:r>
              <a:rPr lang="en-US" sz="2200" b="1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objectif</a:t>
            </a:r>
            <a:r>
              <a:rPr lang="en-US" sz="22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du </a:t>
            </a:r>
            <a:r>
              <a:rPr lang="en-US" sz="2200" b="1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projet</a:t>
            </a:r>
            <a:endParaRPr lang="en-US" sz="2200" err="1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86842" y="1466067"/>
            <a:ext cx="10241280" cy="222326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800" err="1">
                <a:solidFill>
                  <a:srgbClr val="283041"/>
                </a:solidFill>
                <a:latin typeface="Calibri"/>
                <a:ea typeface="Calibri"/>
                <a:cs typeface="Calibri"/>
              </a:rPr>
              <a:t>Besoins</a:t>
            </a:r>
            <a:r>
              <a:rPr lang="en-US" sz="1800">
                <a:solidFill>
                  <a:srgbClr val="28304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err="1">
                <a:solidFill>
                  <a:srgbClr val="283041"/>
                </a:solidFill>
                <a:latin typeface="Calibri"/>
                <a:ea typeface="Calibri"/>
                <a:cs typeface="Calibri"/>
              </a:rPr>
              <a:t>utilisateurs</a:t>
            </a:r>
            <a:r>
              <a:rPr lang="en-US" sz="1800">
                <a:solidFill>
                  <a:srgbClr val="283041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sz="1800" err="1">
                <a:solidFill>
                  <a:srgbClr val="283041"/>
                </a:solidFill>
                <a:latin typeface="Calibri"/>
                <a:ea typeface="Calibri"/>
                <a:cs typeface="Calibri"/>
              </a:rPr>
              <a:t>accessibilité</a:t>
            </a:r>
            <a:r>
              <a:rPr lang="en-US" sz="1800">
                <a:solidFill>
                  <a:srgbClr val="283041"/>
                </a:solidFill>
                <a:latin typeface="Calibri"/>
                <a:ea typeface="Calibri"/>
                <a:cs typeface="Calibri"/>
              </a:rPr>
              <a:t>, usage </a:t>
            </a:r>
            <a:r>
              <a:rPr lang="en-US" sz="1800" err="1">
                <a:solidFill>
                  <a:srgbClr val="283041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800">
                <a:solidFill>
                  <a:srgbClr val="28304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err="1">
                <a:solidFill>
                  <a:srgbClr val="283041"/>
                </a:solidFill>
                <a:latin typeface="Calibri"/>
                <a:ea typeface="Calibri"/>
                <a:cs typeface="Calibri"/>
              </a:rPr>
              <a:t>autonomie</a:t>
            </a:r>
            <a:r>
              <a:rPr lang="en-US" sz="1800">
                <a:solidFill>
                  <a:srgbClr val="283041"/>
                </a:solidFill>
                <a:latin typeface="Calibri"/>
                <a:ea typeface="Calibri"/>
                <a:cs typeface="Calibri"/>
              </a:rPr>
              <a:t>)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800" err="1">
                <a:solidFill>
                  <a:srgbClr val="283041"/>
                </a:solidFill>
                <a:latin typeface="Calibri"/>
                <a:ea typeface="Calibri"/>
                <a:cs typeface="Calibri"/>
              </a:rPr>
              <a:t>Problème</a:t>
            </a:r>
            <a:r>
              <a:rPr lang="en-US" sz="1800">
                <a:solidFill>
                  <a:srgbClr val="283041"/>
                </a:solidFill>
                <a:latin typeface="Calibri"/>
                <a:ea typeface="Calibri"/>
                <a:cs typeface="Calibri"/>
              </a:rPr>
              <a:t> à </a:t>
            </a:r>
            <a:r>
              <a:rPr lang="en-US" sz="1800" err="1">
                <a:solidFill>
                  <a:srgbClr val="283041"/>
                </a:solidFill>
                <a:latin typeface="Calibri"/>
                <a:ea typeface="Calibri"/>
                <a:cs typeface="Calibri"/>
              </a:rPr>
              <a:t>résoudre</a:t>
            </a:r>
            <a:r>
              <a:rPr lang="en-US" sz="1800">
                <a:solidFill>
                  <a:srgbClr val="283041"/>
                </a:solidFill>
                <a:latin typeface="Calibri"/>
                <a:ea typeface="Calibri"/>
                <a:cs typeface="Calibri"/>
              </a:rPr>
              <a:t> : </a:t>
            </a:r>
            <a:r>
              <a:rPr lang="en-US" sz="1800" err="1">
                <a:solidFill>
                  <a:srgbClr val="283041"/>
                </a:solidFill>
                <a:latin typeface="Calibri"/>
                <a:ea typeface="Calibri"/>
                <a:cs typeface="Calibri"/>
              </a:rPr>
              <a:t>détecter</a:t>
            </a:r>
            <a:r>
              <a:rPr lang="en-US" sz="1800">
                <a:solidFill>
                  <a:srgbClr val="283041"/>
                </a:solidFill>
                <a:latin typeface="Calibri"/>
                <a:ea typeface="Calibri"/>
                <a:cs typeface="Calibri"/>
              </a:rPr>
              <a:t> la note + guider la correction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800" err="1">
                <a:solidFill>
                  <a:srgbClr val="283041"/>
                </a:solidFill>
                <a:latin typeface="Calibri"/>
                <a:ea typeface="Calibri"/>
                <a:cs typeface="Calibri"/>
              </a:rPr>
              <a:t>Contraintes</a:t>
            </a:r>
            <a:r>
              <a:rPr lang="en-US" sz="1800">
                <a:solidFill>
                  <a:srgbClr val="283041"/>
                </a:solidFill>
                <a:latin typeface="Calibri"/>
                <a:ea typeface="Calibri"/>
                <a:cs typeface="Calibri"/>
              </a:rPr>
              <a:t> : portable, </a:t>
            </a:r>
            <a:r>
              <a:rPr lang="en-US" sz="1800" err="1">
                <a:solidFill>
                  <a:srgbClr val="283041"/>
                </a:solidFill>
                <a:latin typeface="Calibri"/>
                <a:ea typeface="Calibri"/>
                <a:cs typeface="Calibri"/>
              </a:rPr>
              <a:t>faible</a:t>
            </a:r>
            <a:r>
              <a:rPr lang="en-US" sz="1800">
                <a:solidFill>
                  <a:srgbClr val="28304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err="1">
                <a:solidFill>
                  <a:srgbClr val="283041"/>
                </a:solidFill>
                <a:latin typeface="Calibri"/>
                <a:ea typeface="Calibri"/>
                <a:cs typeface="Calibri"/>
              </a:rPr>
              <a:t>consommation</a:t>
            </a:r>
            <a:r>
              <a:rPr lang="en-US" sz="1800">
                <a:solidFill>
                  <a:srgbClr val="283041"/>
                </a:solidFill>
                <a:latin typeface="Calibri"/>
                <a:ea typeface="Calibri"/>
                <a:cs typeface="Calibri"/>
              </a:rPr>
              <a:t>, interface </a:t>
            </a:r>
            <a:r>
              <a:rPr lang="en-US">
                <a:solidFill>
                  <a:srgbClr val="283041"/>
                </a:solidFill>
                <a:latin typeface="Calibri"/>
                <a:ea typeface="Calibri"/>
                <a:cs typeface="Calibri"/>
              </a:rPr>
              <a:t>simple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Aft>
                <a:spcPts val="800"/>
              </a:spcAft>
              <a:buSzPct val="100000"/>
            </a:pPr>
            <a:endParaRPr lang="en-US" sz="1800">
              <a:solidFill>
                <a:srgbClr val="28304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6574536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Accordeur accessible — présentation</a:t>
            </a:r>
            <a:endParaRPr lang="en-US" sz="12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EF30EB-CA1D-823B-B986-B42314D17C04}"/>
              </a:ext>
            </a:extLst>
          </p:cNvPr>
          <p:cNvSpPr txBox="1"/>
          <p:nvPr/>
        </p:nvSpPr>
        <p:spPr>
          <a:xfrm>
            <a:off x="876822" y="3272424"/>
            <a:ext cx="6096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baseline="0">
                <a:solidFill>
                  <a:srgbClr val="002060"/>
                </a:solidFill>
                <a:latin typeface="Calibri"/>
              </a:rPr>
              <a:t>2. Architecture </a:t>
            </a:r>
            <a:r>
              <a:rPr lang="en-US" sz="2200" b="1" baseline="0" err="1">
                <a:solidFill>
                  <a:srgbClr val="002060"/>
                </a:solidFill>
                <a:latin typeface="Calibri"/>
              </a:rPr>
              <a:t>fonctionnelle</a:t>
            </a:r>
            <a:r>
              <a:rPr lang="en-US" sz="2200" b="1" baseline="0">
                <a:solidFill>
                  <a:srgbClr val="002060"/>
                </a:solidFill>
                <a:latin typeface="Calibri"/>
              </a:rPr>
              <a:t> (blocs)</a:t>
            </a:r>
            <a:endParaRPr lang="en-US" sz="2200" b="1">
              <a:solidFill>
                <a:srgbClr val="002060"/>
              </a:solidFill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82BC0A-020D-EF83-924C-96FBB7644C36}"/>
              </a:ext>
            </a:extLst>
          </p:cNvPr>
          <p:cNvSpPr txBox="1"/>
          <p:nvPr/>
        </p:nvSpPr>
        <p:spPr>
          <a:xfrm>
            <a:off x="876822" y="3982232"/>
            <a:ext cx="6847562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baseline="0">
                <a:solidFill>
                  <a:srgbClr val="002060"/>
                </a:solidFill>
                <a:latin typeface="Calibri"/>
              </a:rPr>
              <a:t>3. </a:t>
            </a:r>
            <a:r>
              <a:rPr lang="en-US" sz="2200" b="1" baseline="0" err="1">
                <a:solidFill>
                  <a:srgbClr val="002060"/>
                </a:solidFill>
                <a:latin typeface="Calibri"/>
              </a:rPr>
              <a:t>Détail</a:t>
            </a:r>
            <a:r>
              <a:rPr lang="en-US" sz="2200" b="1" baseline="0">
                <a:solidFill>
                  <a:srgbClr val="002060"/>
                </a:solidFill>
                <a:latin typeface="Calibri"/>
              </a:rPr>
              <a:t> des blocs : </a:t>
            </a:r>
            <a:r>
              <a:rPr lang="en-US" sz="2200" b="1" baseline="0" err="1">
                <a:solidFill>
                  <a:srgbClr val="002060"/>
                </a:solidFill>
                <a:latin typeface="Calibri"/>
              </a:rPr>
              <a:t>principe</a:t>
            </a:r>
            <a:r>
              <a:rPr lang="en-US" sz="2200" b="1" baseline="0">
                <a:solidFill>
                  <a:srgbClr val="002060"/>
                </a:solidFill>
                <a:latin typeface="Calibri"/>
              </a:rPr>
              <a:t>, matériel, choix techniques</a:t>
            </a:r>
            <a:endParaRPr lang="en-US" sz="2200" b="1">
              <a:solidFill>
                <a:srgbClr val="002060"/>
              </a:solidFill>
              <a:ea typeface="Calibri"/>
              <a:cs typeface="Calibri"/>
            </a:endParaRPr>
          </a:p>
          <a:p>
            <a:pPr algn="ctr"/>
            <a:endParaRPr lang="en-US" sz="2200" b="1">
              <a:solidFill>
                <a:srgbClr val="002060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besoin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990600" y="1465650"/>
            <a:ext cx="3999411" cy="17830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367245" y="1989145"/>
            <a:ext cx="3246120" cy="7067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1000"/>
              </a:spcAft>
              <a:defRPr sz="1600">
                <a:solidFill>
                  <a:srgbClr val="1E2226"/>
                </a:solidFill>
              </a:defRPr>
            </a:pPr>
            <a:r>
              <a:rPr lang="fr-FR"/>
              <a:t>Développer un accordage accessible avec retour haptique ou feedback</a:t>
            </a:r>
          </a:p>
        </p:txBody>
      </p:sp>
      <p:sp>
        <p:nvSpPr>
          <p:cNvPr id="7" name="Shape 5"/>
          <p:cNvSpPr/>
          <p:nvPr/>
        </p:nvSpPr>
        <p:spPr>
          <a:xfrm>
            <a:off x="1058091" y="3886200"/>
            <a:ext cx="39319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606731" y="4037729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1400991" y="4509298"/>
            <a:ext cx="3246120" cy="777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la fréquence fondamentale</a:t>
            </a:r>
            <a:endParaRPr lang="en-US" sz="130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la note + écart (en cents)</a:t>
            </a:r>
            <a:endParaRPr lang="en-US" sz="130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Guider la correction (trop bas / trop haut)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7305403" y="1506800"/>
            <a:ext cx="39319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8046720" y="170176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7648303" y="2152106"/>
            <a:ext cx="3246120" cy="9601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err="1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</a:t>
            </a:r>
            <a:r>
              <a:rPr lang="en-US" sz="1300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 bruit (capteur adapté)</a:t>
            </a:r>
            <a:endParaRPr lang="en-US" sz="130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faible</a:t>
            </a:r>
            <a:endParaRPr lang="en-US" sz="130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simple (boutons)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7269480" y="3886200"/>
            <a:ext cx="39319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8046720" y="4037729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de succès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7819209" y="4446924"/>
            <a:ext cx="3246120" cy="8229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suffisante pour accorder</a:t>
            </a:r>
            <a:endParaRPr lang="en-US" sz="130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</a:t>
            </a:r>
            <a:r>
              <a:rPr lang="en-US" sz="1300" err="1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clair</a:t>
            </a:r>
            <a:r>
              <a:rPr lang="en-US" sz="1300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48640" y="6574536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Accordeur accessible — contexte</a:t>
            </a:r>
            <a:endParaRPr lang="en-US" sz="120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EC40E61E-D71F-7286-6C8A-555A11868A3D}"/>
              </a:ext>
            </a:extLst>
          </p:cNvPr>
          <p:cNvSpPr/>
          <p:nvPr/>
        </p:nvSpPr>
        <p:spPr>
          <a:xfrm>
            <a:off x="1606731" y="1632529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err="1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savoir</a:t>
            </a:r>
            <a:endParaRPr lang="en-US" sz="2200"/>
          </a:p>
        </p:txBody>
      </p:sp>
      <p:sp>
        <p:nvSpPr>
          <p:cNvPr id="9" name="Shap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48640" y="6574536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Accordeur accessible — perspectives</a:t>
            </a:r>
            <a:endParaRPr lang="en-US" sz="1200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7532DE6E-2969-A561-DEE5-5687939706C0}"/>
              </a:ext>
            </a:extLst>
          </p:cNvPr>
          <p:cNvSpPr/>
          <p:nvPr/>
        </p:nvSpPr>
        <p:spPr>
          <a:xfrm>
            <a:off x="731520" y="1074420"/>
            <a:ext cx="1133856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 lIns="91440" tIns="45720" rIns="91440" bIns="45720" anchor="t"/>
          <a:lstStyle/>
          <a:p>
            <a:pPr rtl="0"/>
            <a:endParaRPr lang="en-US">
              <a:ea typeface="Calibri"/>
              <a:cs typeface="Calibri"/>
            </a:endParaRPr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576DBAEE-793E-8B3D-86C6-7FA2AD910558}"/>
              </a:ext>
            </a:extLst>
          </p:cNvPr>
          <p:cNvSpPr/>
          <p:nvPr/>
        </p:nvSpPr>
        <p:spPr>
          <a:xfrm>
            <a:off x="1007301" y="1073272"/>
            <a:ext cx="10688042" cy="457909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285750" indent="-2857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12 notes de musique</a:t>
            </a:r>
            <a:endParaRPr lang="en-US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08 octaves : la 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suivante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égale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au double de la 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précédente</a:t>
            </a:r>
            <a:endParaRPr lang="en-US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1 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démi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-ton : distance entre 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une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touche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et la 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touche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adjacente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 ton = deux demi tons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Chaque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demi-ton = 100 cents 1 octave = 1200 cents </a:t>
            </a:r>
          </a:p>
          <a:p>
            <a:pPr>
              <a:lnSpc>
                <a:spcPct val="150000"/>
              </a:lnSpc>
              <a:buSzPct val="100000"/>
            </a:pP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  <a:buSzPct val="100000"/>
            </a:pP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Formule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de 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calcul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de la 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fréquence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de la note 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située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au 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démi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ton supérieur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n-US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F2 = F1 * 2^(1/12)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err="1">
                <a:ea typeface="Calibri"/>
                <a:cs typeface="Calibri"/>
              </a:rPr>
              <a:t>Ecart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en</a:t>
            </a:r>
            <a:r>
              <a:rPr lang="en-US">
                <a:ea typeface="Calibri"/>
                <a:cs typeface="Calibri"/>
              </a:rPr>
              <a:t> cents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31BA6DD-A36F-1F1E-F8FF-4616E869F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397" y="1709803"/>
            <a:ext cx="3991235" cy="19457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A895576-AA61-2239-61C7-8FC77BA0C6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6685" y="4935291"/>
            <a:ext cx="314325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fonctionnelle (vue bloc)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548640" y="1369203"/>
            <a:ext cx="1965960" cy="960120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93A4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1515507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400"/>
          </a:p>
          <a:p>
            <a:pPr marL="0" indent="0" algn="ctr">
              <a:buNone/>
            </a:pPr>
            <a:r>
              <a:rPr lang="en-US" sz="1400" b="1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(capteur)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2965704" y="2329323"/>
            <a:ext cx="1965960" cy="96012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93A4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057144" y="2475627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Conditionnement</a:t>
            </a:r>
            <a:endParaRPr lang="en-US" sz="1400"/>
          </a:p>
          <a:p>
            <a:pPr marL="0" indent="0" algn="ctr">
              <a:buNone/>
            </a:pPr>
            <a:r>
              <a:rPr lang="en-US" sz="1400" b="1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ADC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4949952" y="2631075"/>
            <a:ext cx="192024" cy="347472"/>
          </a:xfrm>
          <a:prstGeom prst="rightArrow">
            <a:avLst/>
          </a:prstGeom>
          <a:solidFill>
            <a:srgbClr val="93A4BD"/>
          </a:solidFill>
          <a:ln w="12700">
            <a:solidFill>
              <a:srgbClr val="93A4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5160264" y="2329323"/>
            <a:ext cx="1965960" cy="960120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93A4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251704" y="2475627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err="1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</a:t>
            </a:r>
            <a:endParaRPr lang="en-US" sz="1400"/>
          </a:p>
          <a:p>
            <a:pPr algn="ctr"/>
            <a:r>
              <a:rPr lang="en-US" sz="1400" b="1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signal</a:t>
            </a:r>
          </a:p>
        </p:txBody>
      </p:sp>
      <p:sp>
        <p:nvSpPr>
          <p:cNvPr id="12" name="Shape 10"/>
          <p:cNvSpPr/>
          <p:nvPr/>
        </p:nvSpPr>
        <p:spPr>
          <a:xfrm>
            <a:off x="7144512" y="2631075"/>
            <a:ext cx="192024" cy="347472"/>
          </a:xfrm>
          <a:prstGeom prst="rightArrow">
            <a:avLst/>
          </a:prstGeom>
          <a:solidFill>
            <a:srgbClr val="93A4BD"/>
          </a:solidFill>
          <a:ln w="12700">
            <a:solidFill>
              <a:srgbClr val="93A4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7354824" y="2329323"/>
            <a:ext cx="1965960" cy="96012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93A4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7446264" y="2475627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</a:t>
            </a:r>
            <a:endParaRPr lang="en-US" sz="1400"/>
          </a:p>
          <a:p>
            <a:pPr marL="0" indent="0" algn="ctr">
              <a:buNone/>
            </a:pPr>
            <a:r>
              <a:rPr lang="en-US" sz="1400" b="1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(note + écart)</a:t>
            </a:r>
            <a:endParaRPr lang="en-US" sz="1400"/>
          </a:p>
        </p:txBody>
      </p:sp>
      <p:sp>
        <p:nvSpPr>
          <p:cNvPr id="15" name="Shape 13"/>
          <p:cNvSpPr/>
          <p:nvPr/>
        </p:nvSpPr>
        <p:spPr>
          <a:xfrm>
            <a:off x="9339072" y="2631075"/>
            <a:ext cx="192024" cy="347472"/>
          </a:xfrm>
          <a:prstGeom prst="rightArrow">
            <a:avLst/>
          </a:prstGeom>
          <a:solidFill>
            <a:srgbClr val="93A4BD"/>
          </a:solidFill>
          <a:ln w="12700">
            <a:solidFill>
              <a:srgbClr val="93A4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9549384" y="2329323"/>
            <a:ext cx="1965960" cy="960120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93A4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9640824" y="2475627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400"/>
          </a:p>
          <a:p>
            <a:pPr marL="0" indent="0" algn="ctr">
              <a:buNone/>
            </a:pPr>
            <a:r>
              <a:rPr lang="en-US" sz="1400" b="1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(audio/haptique)</a:t>
            </a:r>
            <a:endParaRPr lang="en-US" sz="1400"/>
          </a:p>
        </p:txBody>
      </p:sp>
      <p:sp>
        <p:nvSpPr>
          <p:cNvPr id="33" name="Shape 2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27"/>
          <p:cNvSpPr/>
          <p:nvPr/>
        </p:nvSpPr>
        <p:spPr>
          <a:xfrm>
            <a:off x="548640" y="6574536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Accordeur accessible — architecture</a:t>
            </a:r>
            <a:endParaRPr lang="en-US" sz="1200"/>
          </a:p>
        </p:txBody>
      </p:sp>
      <p:sp>
        <p:nvSpPr>
          <p:cNvPr id="35" name="Shape 2">
            <a:extLst>
              <a:ext uri="{FF2B5EF4-FFF2-40B4-BE49-F238E27FC236}">
                <a16:creationId xmlns:a16="http://schemas.microsoft.com/office/drawing/2014/main" id="{5A9AAB8C-2CC3-97EF-3A9F-5EA77D493714}"/>
              </a:ext>
            </a:extLst>
          </p:cNvPr>
          <p:cNvSpPr/>
          <p:nvPr/>
        </p:nvSpPr>
        <p:spPr>
          <a:xfrm>
            <a:off x="576615" y="3368254"/>
            <a:ext cx="1965960" cy="960120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93A4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F3D4EC38-65F7-CF14-D742-CF17C95D4927}"/>
              </a:ext>
            </a:extLst>
          </p:cNvPr>
          <p:cNvSpPr/>
          <p:nvPr/>
        </p:nvSpPr>
        <p:spPr>
          <a:xfrm>
            <a:off x="668055" y="3503672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400"/>
          </a:p>
          <a:p>
            <a:pPr marL="0" indent="0" algn="ctr">
              <a:buNone/>
            </a:pPr>
            <a:r>
              <a:rPr lang="en-US" sz="1400" b="1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(microphone)</a:t>
            </a:r>
            <a:endParaRPr lang="en-US" sz="1400"/>
          </a:p>
        </p:txBody>
      </p:sp>
      <p:sp>
        <p:nvSpPr>
          <p:cNvPr id="37" name="Flèche : angle droit 36">
            <a:extLst>
              <a:ext uri="{FF2B5EF4-FFF2-40B4-BE49-F238E27FC236}">
                <a16:creationId xmlns:a16="http://schemas.microsoft.com/office/drawing/2014/main" id="{E5A74B0C-60EC-5758-E7AE-B24EABB254B4}"/>
              </a:ext>
            </a:extLst>
          </p:cNvPr>
          <p:cNvSpPr/>
          <p:nvPr/>
        </p:nvSpPr>
        <p:spPr>
          <a:xfrm rot="5400000">
            <a:off x="2037695" y="1823248"/>
            <a:ext cx="421933" cy="1434084"/>
          </a:xfrm>
          <a:prstGeom prst="bentUpArrow">
            <a:avLst>
              <a:gd name="adj1" fmla="val 28247"/>
              <a:gd name="adj2" fmla="val 25000"/>
              <a:gd name="adj3" fmla="val 25000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Flèche : angle droit 38">
            <a:extLst>
              <a:ext uri="{FF2B5EF4-FFF2-40B4-BE49-F238E27FC236}">
                <a16:creationId xmlns:a16="http://schemas.microsoft.com/office/drawing/2014/main" id="{A0009451-DCF0-69E3-41A9-DD09B083FBB5}"/>
              </a:ext>
            </a:extLst>
          </p:cNvPr>
          <p:cNvSpPr/>
          <p:nvPr/>
        </p:nvSpPr>
        <p:spPr>
          <a:xfrm rot="16200000">
            <a:off x="2046838" y="2449387"/>
            <a:ext cx="421936" cy="1415797"/>
          </a:xfrm>
          <a:prstGeom prst="bentUpArrow">
            <a:avLst>
              <a:gd name="adj1" fmla="val 28247"/>
              <a:gd name="adj2" fmla="val 25000"/>
              <a:gd name="adj3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21599969" lon="11100000" rev="10799999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79C25ED4-3B2D-AFCD-BB89-360FF252570F}"/>
              </a:ext>
            </a:extLst>
          </p:cNvPr>
          <p:cNvSpPr/>
          <p:nvPr/>
        </p:nvSpPr>
        <p:spPr>
          <a:xfrm>
            <a:off x="2126306" y="4945371"/>
            <a:ext cx="7939387" cy="96012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93A4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6">
            <a:extLst>
              <a:ext uri="{FF2B5EF4-FFF2-40B4-BE49-F238E27FC236}">
                <a16:creationId xmlns:a16="http://schemas.microsoft.com/office/drawing/2014/main" id="{3DD68CFA-02C8-D158-4A13-F50855350EE7}"/>
              </a:ext>
            </a:extLst>
          </p:cNvPr>
          <p:cNvSpPr/>
          <p:nvPr/>
        </p:nvSpPr>
        <p:spPr>
          <a:xfrm>
            <a:off x="2214698" y="5036811"/>
            <a:ext cx="774670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fr-FR" sz="1400" b="1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Alimentation : Batterie Li-ion → Charge/Protection → </a:t>
            </a:r>
            <a:r>
              <a:rPr lang="fr-FR" sz="1400" b="1" err="1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</a:t>
            </a:r>
            <a:r>
              <a:rPr lang="fr-FR" sz="1400" b="1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-boost 3.3 V → ESP32 + périphériques</a:t>
            </a:r>
            <a:endParaRPr lang="en-US" sz="1400" b="1">
              <a:solidFill>
                <a:srgbClr val="0B1F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1115568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Bloc 1 — Acquisition du son : Avec Microphone I2S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65836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 lIns="91440" tIns="45720" rIns="91440" bIns="45720" anchor="t"/>
          <a:lstStyle/>
          <a:p>
            <a:endParaRPr lang="fr-FR"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5943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B1F3B"/>
                </a:solidFill>
                <a:ea typeface="Calibri"/>
                <a:cs typeface="Calibri"/>
              </a:rPr>
              <a:t>Principe</a:t>
            </a:r>
            <a:endParaRPr lang="en-US" sz="200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1686" y="2263244"/>
            <a:ext cx="5999758" cy="96199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err="1">
                <a:solidFill>
                  <a:srgbClr val="283041"/>
                </a:solidFill>
                <a:ea typeface="Calibri"/>
                <a:cs typeface="Calibri"/>
              </a:rPr>
              <a:t>Protocole</a:t>
            </a:r>
            <a:r>
              <a:rPr lang="en-US" sz="1500">
                <a:solidFill>
                  <a:srgbClr val="283041"/>
                </a:solidFill>
                <a:ea typeface="Calibri"/>
                <a:cs typeface="Calibri"/>
              </a:rPr>
              <a:t> de transport de </a:t>
            </a:r>
            <a:r>
              <a:rPr lang="en-US" sz="1500" err="1">
                <a:solidFill>
                  <a:srgbClr val="283041"/>
                </a:solidFill>
                <a:ea typeface="Calibri"/>
                <a:cs typeface="Calibri"/>
              </a:rPr>
              <a:t>l'audio</a:t>
            </a:r>
            <a:r>
              <a:rPr lang="en-US" sz="1500">
                <a:solidFill>
                  <a:srgbClr val="283041"/>
                </a:solidFill>
                <a:ea typeface="Calibri"/>
                <a:cs typeface="Calibri"/>
              </a:rPr>
              <a:t> entre composants </a:t>
            </a:r>
          </a:p>
          <a:p>
            <a:pPr marL="228600" indent="-228600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1500">
                <a:solidFill>
                  <a:srgbClr val="283041"/>
                </a:solidFill>
                <a:latin typeface="Calibri"/>
                <a:ea typeface="Calibri"/>
                <a:cs typeface="Calibri"/>
              </a:rPr>
              <a:t>02 </a:t>
            </a:r>
            <a:r>
              <a:rPr lang="en-US" sz="1500" err="1">
                <a:solidFill>
                  <a:srgbClr val="283041"/>
                </a:solidFill>
                <a:latin typeface="Calibri"/>
                <a:ea typeface="Calibri"/>
                <a:cs typeface="Calibri"/>
              </a:rPr>
              <a:t>canaux</a:t>
            </a:r>
            <a:r>
              <a:rPr lang="en-US" sz="1500">
                <a:solidFill>
                  <a:srgbClr val="283041"/>
                </a:solidFill>
                <a:latin typeface="Calibri"/>
                <a:ea typeface="Calibri"/>
                <a:cs typeface="Calibri"/>
              </a:rPr>
              <a:t> : gauche et droit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>
                <a:solidFill>
                  <a:srgbClr val="283041"/>
                </a:solidFill>
                <a:latin typeface="Calibri"/>
                <a:ea typeface="Calibri"/>
                <a:cs typeface="Calibri"/>
              </a:rPr>
              <a:t>03 </a:t>
            </a:r>
            <a:r>
              <a:rPr lang="en-US" sz="1500" err="1">
                <a:solidFill>
                  <a:srgbClr val="283041"/>
                </a:solidFill>
                <a:latin typeface="Calibri"/>
                <a:ea typeface="Calibri"/>
                <a:cs typeface="Calibri"/>
              </a:rPr>
              <a:t>signaux</a:t>
            </a:r>
            <a:r>
              <a:rPr lang="en-US" sz="1500">
                <a:solidFill>
                  <a:srgbClr val="283041"/>
                </a:solidFill>
                <a:latin typeface="Calibri"/>
                <a:ea typeface="Calibri"/>
                <a:cs typeface="Calibri"/>
              </a:rPr>
              <a:t> : Serial clock (BCLK),  Word Select (WS), Serial Data (SD)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endParaRPr lang="en-US" sz="1500">
              <a:solidFill>
                <a:srgbClr val="28304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97280" y="3261986"/>
            <a:ext cx="5943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b="1">
                <a:solidFill>
                  <a:srgbClr val="0B1F3B"/>
                </a:solidFill>
                <a:latin typeface="Calibri"/>
                <a:ea typeface="Calibri"/>
                <a:cs typeface="Calibri"/>
              </a:rPr>
              <a:t>Configurations</a:t>
            </a:r>
            <a:endParaRPr lang="en-US" sz="2000" b="1">
              <a:solidFill>
                <a:srgbClr val="0B1F3B"/>
              </a:solidFill>
              <a:ea typeface="Calibri"/>
              <a:cs typeface="Calibri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9"/>
          <p:cNvSpPr/>
          <p:nvPr/>
        </p:nvSpPr>
        <p:spPr>
          <a:xfrm>
            <a:off x="548640" y="6574536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Accordeur accessible — bloc acquisition</a:t>
            </a:r>
            <a:endParaRPr lang="en-US" sz="120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E02E9B-2816-838F-59DD-B31B1D371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7350" y="2581110"/>
            <a:ext cx="4857080" cy="2613473"/>
          </a:xfrm>
          <a:prstGeom prst="rect">
            <a:avLst/>
          </a:prstGeom>
        </p:spPr>
      </p:pic>
      <p:sp>
        <p:nvSpPr>
          <p:cNvPr id="18" name="Text 3">
            <a:extLst>
              <a:ext uri="{FF2B5EF4-FFF2-40B4-BE49-F238E27FC236}">
                <a16:creationId xmlns:a16="http://schemas.microsoft.com/office/drawing/2014/main" id="{53AEA540-1E55-01AC-27D1-D06663EBC9D2}"/>
              </a:ext>
            </a:extLst>
          </p:cNvPr>
          <p:cNvSpPr/>
          <p:nvPr/>
        </p:nvSpPr>
        <p:spPr>
          <a:xfrm>
            <a:off x="1097279" y="1899988"/>
            <a:ext cx="5943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b="1">
                <a:solidFill>
                  <a:srgbClr val="0B1F3B"/>
                </a:solidFill>
                <a:latin typeface="Calibri"/>
                <a:ea typeface="Calibri"/>
                <a:cs typeface="Calibri"/>
              </a:rPr>
              <a:t>I2S : Inter-IC Sound</a:t>
            </a:r>
            <a:endParaRPr lang="en-US"/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167B123A-A283-5088-A72A-4710C57B3617}"/>
              </a:ext>
            </a:extLst>
          </p:cNvPr>
          <p:cNvSpPr/>
          <p:nvPr/>
        </p:nvSpPr>
        <p:spPr>
          <a:xfrm>
            <a:off x="930224" y="5252063"/>
            <a:ext cx="1819824" cy="866175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93A4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48A02D4D-4059-92C3-8876-6BAB5767004F}"/>
              </a:ext>
            </a:extLst>
          </p:cNvPr>
          <p:cNvSpPr/>
          <p:nvPr/>
        </p:nvSpPr>
        <p:spPr>
          <a:xfrm>
            <a:off x="1000788" y="5377490"/>
            <a:ext cx="1657820" cy="7041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400" b="1" err="1">
                <a:solidFill>
                  <a:srgbClr val="0B1F3B"/>
                </a:solidFill>
                <a:latin typeface="Calibri"/>
                <a:ea typeface="Calibri"/>
                <a:cs typeface="Calibri"/>
              </a:rPr>
              <a:t>Synchronisation</a:t>
            </a:r>
            <a:r>
              <a:rPr lang="en-US" sz="1400" b="1">
                <a:solidFill>
                  <a:srgbClr val="0B1F3B"/>
                </a:solidFill>
                <a:latin typeface="Calibri"/>
                <a:ea typeface="Calibri"/>
                <a:cs typeface="Calibri"/>
              </a:rPr>
              <a:t> ESP32 BCLK</a:t>
            </a:r>
            <a:endParaRPr lang="en-US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76121B90-15EC-124D-6B22-EB7F72287F03}"/>
              </a:ext>
            </a:extLst>
          </p:cNvPr>
          <p:cNvSpPr/>
          <p:nvPr/>
        </p:nvSpPr>
        <p:spPr>
          <a:xfrm>
            <a:off x="2893596" y="5532938"/>
            <a:ext cx="181586" cy="316157"/>
          </a:xfrm>
          <a:prstGeom prst="rightArrow">
            <a:avLst/>
          </a:prstGeom>
          <a:solidFill>
            <a:srgbClr val="93A4BD"/>
          </a:solidFill>
          <a:ln w="12700">
            <a:solidFill>
              <a:srgbClr val="93A4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1E43B65B-4F3E-FA2B-FA62-06184E156A6F}"/>
              </a:ext>
            </a:extLst>
          </p:cNvPr>
          <p:cNvSpPr/>
          <p:nvPr/>
        </p:nvSpPr>
        <p:spPr>
          <a:xfrm>
            <a:off x="3124784" y="5252063"/>
            <a:ext cx="1819824" cy="866175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93A4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9DC36FC4-300A-7F1C-A61D-F0C63028B329}"/>
              </a:ext>
            </a:extLst>
          </p:cNvPr>
          <p:cNvSpPr/>
          <p:nvPr/>
        </p:nvSpPr>
        <p:spPr>
          <a:xfrm>
            <a:off x="3195348" y="5377490"/>
            <a:ext cx="1657820" cy="7041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400" b="1">
                <a:solidFill>
                  <a:srgbClr val="0B1F3B"/>
                </a:solidFill>
                <a:latin typeface="Calibri"/>
                <a:ea typeface="Calibri"/>
                <a:cs typeface="Calibri"/>
              </a:rPr>
              <a:t>Stockage des données      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Shape 10">
            <a:extLst>
              <a:ext uri="{FF2B5EF4-FFF2-40B4-BE49-F238E27FC236}">
                <a16:creationId xmlns:a16="http://schemas.microsoft.com/office/drawing/2014/main" id="{5958DDAF-B3DF-8F0B-4603-8830AD3FA4E9}"/>
              </a:ext>
            </a:extLst>
          </p:cNvPr>
          <p:cNvSpPr/>
          <p:nvPr/>
        </p:nvSpPr>
        <p:spPr>
          <a:xfrm>
            <a:off x="5129909" y="5532938"/>
            <a:ext cx="181586" cy="316157"/>
          </a:xfrm>
          <a:prstGeom prst="rightArrow">
            <a:avLst/>
          </a:prstGeom>
          <a:solidFill>
            <a:srgbClr val="93A4BD"/>
          </a:solidFill>
          <a:ln w="12700">
            <a:solidFill>
              <a:srgbClr val="93A4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D80E641E-EA18-485D-1ECD-4DBAA99D1740}"/>
              </a:ext>
            </a:extLst>
          </p:cNvPr>
          <p:cNvSpPr/>
          <p:nvPr/>
        </p:nvSpPr>
        <p:spPr>
          <a:xfrm>
            <a:off x="5319344" y="5252063"/>
            <a:ext cx="1819824" cy="866175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93A4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CDBA6CD6-E53C-D449-4F95-B6AEC614DDE4}"/>
              </a:ext>
            </a:extLst>
          </p:cNvPr>
          <p:cNvSpPr/>
          <p:nvPr/>
        </p:nvSpPr>
        <p:spPr>
          <a:xfrm>
            <a:off x="5389908" y="5377490"/>
            <a:ext cx="1657820" cy="7041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400" b="1">
                <a:solidFill>
                  <a:srgbClr val="0B1F3B"/>
                </a:solidFill>
                <a:ea typeface="Calibri"/>
                <a:cs typeface="Calibri"/>
              </a:rPr>
              <a:t>Lecture du buffer et </a:t>
            </a:r>
            <a:r>
              <a:rPr lang="en-US" sz="1400" b="1" err="1">
                <a:solidFill>
                  <a:srgbClr val="0B1F3B"/>
                </a:solidFill>
                <a:ea typeface="Calibri"/>
                <a:cs typeface="Calibri"/>
              </a:rPr>
              <a:t>récupération</a:t>
            </a:r>
            <a:r>
              <a:rPr lang="en-US" sz="1400" b="1">
                <a:solidFill>
                  <a:srgbClr val="0B1F3B"/>
                </a:solidFill>
                <a:ea typeface="Calibri"/>
                <a:cs typeface="Calibri"/>
              </a:rPr>
              <a:t> des données</a:t>
            </a:r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452426D0-E7C2-D2FD-6AC7-C26C00DDFDA3}"/>
              </a:ext>
            </a:extLst>
          </p:cNvPr>
          <p:cNvSpPr/>
          <p:nvPr/>
        </p:nvSpPr>
        <p:spPr>
          <a:xfrm>
            <a:off x="1143001" y="3588916"/>
            <a:ext cx="5999758" cy="96199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endParaRPr lang="en-US" sz="1500">
              <a:solidFill>
                <a:srgbClr val="28304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C141CACD-76C6-0E73-5EBF-A79D1382AA52}"/>
              </a:ext>
            </a:extLst>
          </p:cNvPr>
          <p:cNvSpPr/>
          <p:nvPr/>
        </p:nvSpPr>
        <p:spPr>
          <a:xfrm>
            <a:off x="1111685" y="3745491"/>
            <a:ext cx="6010196" cy="130646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>
                <a:solidFill>
                  <a:srgbClr val="283041"/>
                </a:solidFill>
                <a:ea typeface="Calibri"/>
                <a:cs typeface="Calibri"/>
              </a:rPr>
              <a:t>Mode :</a:t>
            </a:r>
          </a:p>
          <a:p>
            <a:pPr marL="228600" indent="-228600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1500">
                <a:solidFill>
                  <a:srgbClr val="283041"/>
                </a:solidFill>
                <a:latin typeface="Calibri"/>
                <a:ea typeface="Calibri"/>
                <a:cs typeface="Calibri"/>
              </a:rPr>
              <a:t>Nombre de bits par échantillons :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>
                <a:solidFill>
                  <a:srgbClr val="283041"/>
                </a:solidFill>
                <a:latin typeface="Calibri"/>
                <a:ea typeface="Calibri"/>
                <a:cs typeface="Calibri"/>
              </a:rPr>
              <a:t>Choix du canal :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endParaRPr lang="en-US" sz="1500">
              <a:solidFill>
                <a:srgbClr val="283041"/>
              </a:solidFill>
              <a:latin typeface="Calibri"/>
              <a:ea typeface="Calibri"/>
              <a:cs typeface="Calibri"/>
            </a:endParaRP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endParaRPr lang="en-US" sz="1500">
              <a:solidFill>
                <a:srgbClr val="28304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E4B381AD-44BA-B698-85F2-F98AF40646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7468" y="3668691"/>
            <a:ext cx="4095750" cy="20955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13372EB5-9D08-972D-D5A3-F6147E6751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1220" y="3997041"/>
            <a:ext cx="2400300" cy="20002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A8F2EBDC-ADD9-D7B5-8502-11E2F466DD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7375" y="4314042"/>
            <a:ext cx="243840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A0B11-BBBA-EE1D-449F-2F0D88EF9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EDB3540-8FC7-E9BE-DF7C-ED9DBEB9777E}"/>
              </a:ext>
            </a:extLst>
          </p:cNvPr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0A9E2C-662D-DAEB-8EF5-DBD91253E250}"/>
              </a:ext>
            </a:extLst>
          </p:cNvPr>
          <p:cNvSpPr/>
          <p:nvPr/>
        </p:nvSpPr>
        <p:spPr>
          <a:xfrm>
            <a:off x="548640" y="146304"/>
            <a:ext cx="1115568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Bloc 1 — Acquisition du son : Avec </a:t>
            </a:r>
            <a:r>
              <a:rPr lang="en-US" sz="22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pince</a:t>
            </a: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2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piezoélectrique</a:t>
            </a:r>
            <a:endParaRPr lang="en-US" sz="2200" err="1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AAFD853-B611-2DCD-E899-F03AC7643339}"/>
              </a:ext>
            </a:extLst>
          </p:cNvPr>
          <p:cNvSpPr/>
          <p:nvPr/>
        </p:nvSpPr>
        <p:spPr>
          <a:xfrm>
            <a:off x="783712" y="1013774"/>
            <a:ext cx="6573242" cy="176241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85FBDE6-367B-43E0-88E5-BD5415C9AFBE}"/>
              </a:ext>
            </a:extLst>
          </p:cNvPr>
          <p:cNvSpPr/>
          <p:nvPr/>
        </p:nvSpPr>
        <p:spPr>
          <a:xfrm>
            <a:off x="1086842" y="1012730"/>
            <a:ext cx="5943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000" b="1" err="1">
                <a:solidFill>
                  <a:srgbClr val="0B1F3B"/>
                </a:solidFill>
                <a:latin typeface="Calibri"/>
                <a:ea typeface="Calibri"/>
                <a:cs typeface="Calibri"/>
              </a:rPr>
              <a:t>Pourquoi</a:t>
            </a:r>
            <a:r>
              <a:rPr lang="en-US" sz="2000" b="1">
                <a:solidFill>
                  <a:srgbClr val="0B1F3B"/>
                </a:solidFill>
                <a:latin typeface="Calibri"/>
                <a:ea typeface="Calibri"/>
                <a:cs typeface="Calibri"/>
              </a:rPr>
              <a:t> ?</a:t>
            </a:r>
            <a:endParaRPr lang="en-US" sz="2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3EE5E44-09B3-10D6-2AE5-BE40BF6FBAFC}"/>
              </a:ext>
            </a:extLst>
          </p:cNvPr>
          <p:cNvSpPr/>
          <p:nvPr/>
        </p:nvSpPr>
        <p:spPr>
          <a:xfrm>
            <a:off x="1122124" y="2211052"/>
            <a:ext cx="6062387" cy="6592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228600" indent="-228600">
              <a:spcAft>
                <a:spcPts val="600"/>
              </a:spcAft>
              <a:buSzPct val="100000"/>
              <a:buFont typeface="Arial"/>
              <a:buChar char="•"/>
            </a:pPr>
            <a:r>
              <a:rPr lang="fr-FR" sz="1500">
                <a:solidFill>
                  <a:srgbClr val="283041"/>
                </a:solidFill>
                <a:latin typeface="Calibri"/>
                <a:ea typeface="Calibri"/>
                <a:cs typeface="Calibri"/>
              </a:rPr>
              <a:t>Convertir une contrainte mécanique (vibration) en signal analogique</a:t>
            </a:r>
            <a:endParaRPr lang="en-US" sz="1500">
              <a:solidFill>
                <a:srgbClr val="283041"/>
              </a:solidFill>
              <a:latin typeface="Calibri"/>
              <a:ea typeface="Calibri"/>
              <a:cs typeface="Calibri"/>
            </a:endParaRPr>
          </a:p>
          <a:p>
            <a:pPr>
              <a:spcAft>
                <a:spcPts val="600"/>
              </a:spcAft>
              <a:buSzPct val="100000"/>
            </a:pPr>
            <a:r>
              <a:rPr lang="fr-FR" sz="1500" b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Attention</a:t>
            </a:r>
            <a:r>
              <a:rPr lang="fr-FR" sz="1500">
                <a:solidFill>
                  <a:srgbClr val="283041"/>
                </a:solidFill>
                <a:latin typeface="Calibri"/>
                <a:ea typeface="Calibri"/>
                <a:cs typeface="Calibri"/>
              </a:rPr>
              <a:t> : Nécessite d'être bien fixé </a:t>
            </a:r>
          </a:p>
          <a:p>
            <a:pPr>
              <a:spcAft>
                <a:spcPts val="600"/>
              </a:spcAft>
              <a:buSzPct val="100000"/>
            </a:pPr>
            <a:endParaRPr lang="en-US" sz="1500">
              <a:solidFill>
                <a:srgbClr val="28304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5CA7434-E09E-500E-A21A-44119D715256}"/>
              </a:ext>
            </a:extLst>
          </p:cNvPr>
          <p:cNvSpPr/>
          <p:nvPr/>
        </p:nvSpPr>
        <p:spPr>
          <a:xfrm>
            <a:off x="1097280" y="2865329"/>
            <a:ext cx="5943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000" b="1" err="1">
                <a:solidFill>
                  <a:srgbClr val="0B1F3B"/>
                </a:solidFill>
                <a:latin typeface="Calibri"/>
                <a:ea typeface="Calibri"/>
                <a:cs typeface="Calibri"/>
              </a:rPr>
              <a:t>Schématique</a:t>
            </a:r>
            <a:endParaRPr lang="en-US" sz="2000" b="1" err="1">
              <a:solidFill>
                <a:srgbClr val="0B1F3B"/>
              </a:solidFill>
              <a:ea typeface="Calibri"/>
              <a:cs typeface="Calibri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E88FE18-E4B7-D944-9693-5749285C2AB8}"/>
              </a:ext>
            </a:extLst>
          </p:cNvPr>
          <p:cNvSpPr/>
          <p:nvPr/>
        </p:nvSpPr>
        <p:spPr>
          <a:xfrm>
            <a:off x="9262579" y="1012730"/>
            <a:ext cx="329184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b="1" err="1">
                <a:solidFill>
                  <a:srgbClr val="0B1F3B"/>
                </a:solidFill>
                <a:latin typeface="Calibri"/>
                <a:ea typeface="Calibri"/>
                <a:cs typeface="Calibri"/>
              </a:rPr>
              <a:t>Capteur</a:t>
            </a:r>
            <a:r>
              <a:rPr lang="en-US" b="1">
                <a:solidFill>
                  <a:srgbClr val="0B1F3B"/>
                </a:solidFill>
                <a:latin typeface="Calibri"/>
                <a:ea typeface="Calibri"/>
                <a:cs typeface="Calibri"/>
              </a:rPr>
              <a:t> SEN-VIB01</a:t>
            </a:r>
            <a:endParaRPr lang="en-US" sz="1800" b="1">
              <a:solidFill>
                <a:srgbClr val="0B1F3B"/>
              </a:solidFill>
              <a:ea typeface="Calibri"/>
              <a:cs typeface="Calibri"/>
            </a:endParaRPr>
          </a:p>
        </p:txBody>
      </p:sp>
      <p:pic>
        <p:nvPicPr>
          <p:cNvPr id="10" name="Image 0" descr="/home/oai/share/piezo.jpg">
            <a:extLst>
              <a:ext uri="{FF2B5EF4-FFF2-40B4-BE49-F238E27FC236}">
                <a16:creationId xmlns:a16="http://schemas.microsoft.com/office/drawing/2014/main" id="{952DEF3A-7092-BDB4-E31E-966BCD9B0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7380" y="1578279"/>
            <a:ext cx="1920240" cy="1920240"/>
          </a:xfrm>
          <a:prstGeom prst="rect">
            <a:avLst/>
          </a:prstGeom>
        </p:spPr>
      </p:pic>
      <p:sp>
        <p:nvSpPr>
          <p:cNvPr id="12" name="Shape 8">
            <a:extLst>
              <a:ext uri="{FF2B5EF4-FFF2-40B4-BE49-F238E27FC236}">
                <a16:creationId xmlns:a16="http://schemas.microsoft.com/office/drawing/2014/main" id="{13D34448-2A60-2174-6E77-F65C6E559A77}"/>
              </a:ext>
            </a:extLst>
          </p:cNvPr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0773275-F557-F791-9DDA-8DC1809B65D5}"/>
              </a:ext>
            </a:extLst>
          </p:cNvPr>
          <p:cNvSpPr/>
          <p:nvPr/>
        </p:nvSpPr>
        <p:spPr>
          <a:xfrm>
            <a:off x="548640" y="6574536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Accordeur accessible — bloc acquisition</a:t>
            </a:r>
            <a:endParaRPr lang="en-US" sz="1200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DD2F6B65-7ABD-EB0D-63B9-CAD6108FA958}"/>
              </a:ext>
            </a:extLst>
          </p:cNvPr>
          <p:cNvSpPr/>
          <p:nvPr/>
        </p:nvSpPr>
        <p:spPr>
          <a:xfrm>
            <a:off x="1097279" y="1774729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</a:t>
            </a:r>
            <a:endParaRPr lang="en-US" sz="200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569A557D-1DA0-331D-385B-C244543C8788}"/>
              </a:ext>
            </a:extLst>
          </p:cNvPr>
          <p:cNvSpPr/>
          <p:nvPr/>
        </p:nvSpPr>
        <p:spPr>
          <a:xfrm>
            <a:off x="1122123" y="1375985"/>
            <a:ext cx="6062387" cy="6592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285750" indent="-285750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1500">
                <a:solidFill>
                  <a:srgbClr val="283041"/>
                </a:solidFill>
                <a:latin typeface="Calibri"/>
                <a:ea typeface="Calibri"/>
                <a:cs typeface="Calibri"/>
              </a:rPr>
              <a:t>Plus </a:t>
            </a:r>
            <a:r>
              <a:rPr lang="en-US" sz="1500" err="1">
                <a:solidFill>
                  <a:srgbClr val="283041"/>
                </a:solidFill>
                <a:latin typeface="Calibri"/>
                <a:ea typeface="Calibri"/>
                <a:cs typeface="Calibri"/>
              </a:rPr>
              <a:t>robuste</a:t>
            </a:r>
            <a:r>
              <a:rPr lang="en-US" sz="1500">
                <a:solidFill>
                  <a:srgbClr val="283041"/>
                </a:solidFill>
                <a:latin typeface="Calibri"/>
                <a:ea typeface="Calibri"/>
                <a:cs typeface="Calibri"/>
              </a:rPr>
              <a:t> au bruit </a:t>
            </a:r>
            <a:r>
              <a:rPr lang="en-US" sz="1500" err="1">
                <a:solidFill>
                  <a:srgbClr val="283041"/>
                </a:solidFill>
                <a:latin typeface="Calibri"/>
                <a:ea typeface="Calibri"/>
                <a:cs typeface="Calibri"/>
              </a:rPr>
              <a:t>ambiant</a:t>
            </a:r>
            <a:endParaRPr lang="en-US" sz="15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Aft>
                <a:spcPts val="600"/>
              </a:spcAft>
              <a:buSzPct val="100000"/>
            </a:pPr>
            <a:endParaRPr lang="en-US" sz="1500">
              <a:solidFill>
                <a:srgbClr val="28304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31C80887-0890-E009-C3E0-67CF408619F1}"/>
              </a:ext>
            </a:extLst>
          </p:cNvPr>
          <p:cNvSpPr/>
          <p:nvPr/>
        </p:nvSpPr>
        <p:spPr>
          <a:xfrm>
            <a:off x="7353732" y="3932295"/>
            <a:ext cx="4506325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endParaRPr lang="en-US" sz="200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177F5BE-D33D-2CDC-9898-1F60EA5182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3818" y="4295905"/>
            <a:ext cx="2952750" cy="17526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EFC1CE6-85B7-3911-1ECE-68D6C5C912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303" y="3275556"/>
            <a:ext cx="9012738" cy="329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053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2 — Traitement du signal (détection de note)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731520" y="1074420"/>
            <a:ext cx="1133856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</a:t>
            </a:r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1143000" y="178308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Fenêtrage + filtrage (réduire le bruit)</a:t>
            </a:r>
            <a:endParaRPr lang="en-US" sz="150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de la fréquence </a:t>
            </a:r>
            <a:r>
              <a:rPr lang="en-US" sz="1500" err="1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fondamentale</a:t>
            </a:r>
            <a:r>
              <a:rPr lang="en-US" sz="1500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500" err="1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</a:t>
            </a:r>
            <a:r>
              <a:rPr lang="en-US" sz="1500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Yin)</a:t>
            </a:r>
            <a:endParaRPr lang="en-US" sz="150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à une table de </a:t>
            </a:r>
            <a:r>
              <a:rPr lang="en-US" sz="1500" err="1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fréquences</a:t>
            </a:r>
            <a:r>
              <a:rPr lang="en-US" sz="1500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note la plus proche</a:t>
            </a:r>
            <a:endParaRPr lang="en-US" sz="150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de l’écart en cents → décision “trop bas / trop haut”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1097280" y="35204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de </a:t>
            </a:r>
            <a:r>
              <a:rPr lang="en-US" b="1" err="1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l’algorithme</a:t>
            </a:r>
            <a:r>
              <a:rPr lang="en-US" b="1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Yin</a:t>
            </a:r>
            <a:endParaRPr lang="en-US" sz="1800"/>
          </a:p>
        </p:txBody>
      </p:sp>
      <p:sp>
        <p:nvSpPr>
          <p:cNvPr id="8" name="Shape 6"/>
          <p:cNvSpPr/>
          <p:nvPr/>
        </p:nvSpPr>
        <p:spPr>
          <a:xfrm>
            <a:off x="1097280" y="3886200"/>
            <a:ext cx="10363200" cy="2514600"/>
          </a:xfrm>
          <a:prstGeom prst="roundRect">
            <a:avLst/>
          </a:prstGeom>
          <a:solidFill>
            <a:srgbClr val="F6FA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/>
              <p:nvPr/>
            </p:nvSpPr>
            <p:spPr>
              <a:xfrm>
                <a:off x="1705677" y="4046220"/>
                <a:ext cx="9390246" cy="2225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>
                  <a:spcAft>
                    <a:spcPts val="600"/>
                  </a:spcAft>
                  <a:buSzPct val="100000"/>
                </a:pPr>
                <a:r>
                  <a:rPr lang="en-US" sz="1500">
                    <a:solidFill>
                      <a:srgbClr val="28304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But : Detection de la frequence </a:t>
                </a:r>
                <a:r>
                  <a:rPr lang="en-US" sz="1500" err="1">
                    <a:solidFill>
                      <a:srgbClr val="28304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fondamentale</a:t>
                </a:r>
                <a:r>
                  <a:rPr lang="en-US" sz="1500">
                    <a:solidFill>
                      <a:srgbClr val="28304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(On </a:t>
                </a:r>
                <a:r>
                  <a:rPr lang="en-US" sz="1500" err="1">
                    <a:solidFill>
                      <a:srgbClr val="28304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cherche</a:t>
                </a:r>
                <a:r>
                  <a:rPr lang="en-US" sz="1500">
                    <a:solidFill>
                      <a:srgbClr val="28304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le decalage </a:t>
                </a:r>
                <a:r>
                  <a:rPr lang="el-GR" sz="1600"/>
                  <a:t>τ</a:t>
                </a:r>
                <a:r>
                  <a:rPr lang="fr-FR" sz="1600"/>
                  <a:t> pour lequel le signal se répète le mieux</a:t>
                </a:r>
                <a:r>
                  <a:rPr lang="en-US" sz="1500">
                    <a:solidFill>
                      <a:srgbClr val="28304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</a:t>
                </a:r>
              </a:p>
              <a:p>
                <a:pPr marL="228600" indent="-228600">
                  <a:spcAft>
                    <a:spcPts val="600"/>
                  </a:spcAft>
                  <a:buSzPct val="100000"/>
                  <a:buChar char="•"/>
                </a:pPr>
                <a:r>
                  <a:rPr lang="fr-FR" sz="1500">
                    <a:solidFill>
                      <a:srgbClr val="283041"/>
                    </a:solidFill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fr-FR" sz="1500">
                        <a:solidFill>
                          <a:srgbClr val="28304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𝑑</m:t>
                    </m:r>
                    <m:d>
                      <m:dPr>
                        <m:ctrlPr>
                          <a:rPr lang="fr-FR" sz="1500" i="1">
                            <a:solidFill>
                              <a:srgbClr val="283041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dPr>
                      <m:e>
                        <m:r>
                          <a:rPr lang="fr-FR" sz="1500">
                            <a:solidFill>
                              <a:srgbClr val="283041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𝜏</m:t>
                        </m:r>
                      </m:e>
                    </m:d>
                  </m:oMath>
                </a14:m>
                <a:r>
                  <a:rPr lang="en-US" sz="1500">
                    <a:solidFill>
                      <a:srgbClr val="28304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: </a:t>
                </a:r>
                <a:r>
                  <a:rPr lang="fr-FR" sz="1500">
                    <a:solidFill>
                      <a:srgbClr val="28304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comparer </a:t>
                </a:r>
                <a14:m>
                  <m:oMath xmlns:m="http://schemas.openxmlformats.org/officeDocument/2006/math">
                    <m:r>
                      <a:rPr lang="fr-FR" sz="1500">
                        <a:solidFill>
                          <a:srgbClr val="28304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ar-AE" sz="1500" i="1">
                            <a:solidFill>
                              <a:srgbClr val="283041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dPr>
                      <m:e>
                        <m:r>
                          <a:rPr lang="ar-AE" sz="1500">
                            <a:solidFill>
                              <a:srgbClr val="283041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𝑛</m:t>
                        </m:r>
                      </m:e>
                    </m:d>
                  </m:oMath>
                </a14:m>
                <a:r>
                  <a:rPr lang="fr-FR" sz="1500">
                    <a:solidFill>
                      <a:srgbClr val="28304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avec </a:t>
                </a:r>
                <a14:m>
                  <m:oMath xmlns:m="http://schemas.openxmlformats.org/officeDocument/2006/math">
                    <m:r>
                      <a:rPr lang="fr-FR" sz="1500">
                        <a:solidFill>
                          <a:srgbClr val="28304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ar-AE" sz="1500" i="1">
                            <a:solidFill>
                              <a:srgbClr val="283041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dPr>
                      <m:e>
                        <m:r>
                          <a:rPr lang="ar-AE" sz="1500">
                            <a:solidFill>
                              <a:srgbClr val="283041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𝑛</m:t>
                        </m:r>
                        <m:r>
                          <a:rPr lang="ar-AE" sz="1500">
                            <a:solidFill>
                              <a:srgbClr val="283041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+</m:t>
                        </m:r>
                        <m:r>
                          <a:rPr lang="ar-AE" sz="1500">
                            <a:solidFill>
                              <a:srgbClr val="283041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𝜏</m:t>
                        </m:r>
                      </m:e>
                    </m:d>
                  </m:oMath>
                </a14:m>
                <a:endParaRPr lang="ar-AE" sz="1500">
                  <a:solidFill>
                    <a:srgbClr val="28304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marL="228600" indent="-228600">
                  <a:spcAft>
                    <a:spcPts val="600"/>
                  </a:spcAft>
                  <a:buSzPct val="100000"/>
                  <a:buChar char="•"/>
                </a:pPr>
                <a:r>
                  <a:rPr lang="fr-FR" sz="1500">
                    <a:solidFill>
                      <a:srgbClr val="28304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Normalisation cumulée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500" i="1">
                            <a:solidFill>
                              <a:srgbClr val="283041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ar-AE" sz="1500" i="0">
                            <a:solidFill>
                              <a:srgbClr val="283041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d</m:t>
                        </m:r>
                      </m:e>
                      <m:sup>
                        <m:r>
                          <a:rPr lang="ar-AE" sz="1500" i="0">
                            <a:solidFill>
                              <a:srgbClr val="283041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ar-AE" sz="1500" i="1">
                            <a:solidFill>
                              <a:srgbClr val="283041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ar-AE" sz="1500" i="0">
                            <a:solidFill>
                              <a:srgbClr val="283041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τ</m:t>
                        </m:r>
                      </m:e>
                    </m:d>
                    <m:r>
                      <a:rPr lang="fr-FR" sz="1500" i="0">
                        <a:solidFill>
                          <a:srgbClr val="28304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:</m:t>
                    </m:r>
                    <m:r>
                      <m:rPr>
                        <m:sty m:val="p"/>
                      </m:rPr>
                      <a:rPr lang="fr-FR" sz="1500" i="0">
                        <a:solidFill>
                          <a:srgbClr val="28304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Pour</m:t>
                    </m:r>
                    <m:r>
                      <a:rPr lang="fr-FR" sz="1500" i="0">
                        <a:solidFill>
                          <a:srgbClr val="28304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fr-FR" sz="1500" i="0">
                        <a:solidFill>
                          <a:srgbClr val="28304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faire</m:t>
                    </m:r>
                    <m:r>
                      <a:rPr lang="fr-FR" sz="1500" i="0">
                        <a:solidFill>
                          <a:srgbClr val="28304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fr-FR" sz="1500" i="0">
                        <a:solidFill>
                          <a:srgbClr val="28304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ressortir</m:t>
                    </m:r>
                    <m:r>
                      <a:rPr lang="fr-FR" sz="1500" i="0">
                        <a:solidFill>
                          <a:srgbClr val="28304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fr-FR" sz="1500" i="0">
                        <a:solidFill>
                          <a:srgbClr val="28304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le</m:t>
                    </m:r>
                    <m:r>
                      <a:rPr lang="fr-FR" sz="1500" i="0">
                        <a:solidFill>
                          <a:srgbClr val="28304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fr-FR" sz="1500" i="0">
                        <a:solidFill>
                          <a:srgbClr val="28304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bon</m:t>
                    </m:r>
                    <m:r>
                      <a:rPr lang="fr-FR" sz="1500" i="0">
                        <a:solidFill>
                          <a:srgbClr val="28304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fr-FR" sz="1500" i="0">
                        <a:solidFill>
                          <a:srgbClr val="28304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minima</m:t>
                    </m:r>
                  </m:oMath>
                </a14:m>
                <a:endParaRPr lang="fr-FR" sz="1500">
                  <a:solidFill>
                    <a:srgbClr val="28304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marL="228600" indent="-228600">
                  <a:spcAft>
                    <a:spcPts val="600"/>
                  </a:spcAft>
                  <a:buSzPct val="100000"/>
                  <a:buChar char="•"/>
                </a:pPr>
                <a:r>
                  <a:rPr lang="fr-FR" sz="1500">
                    <a:solidFill>
                      <a:srgbClr val="28304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Choisir le premier minimum qui passe sous le seuil (seuil de Yin)</a:t>
                </a:r>
              </a:p>
              <a:p>
                <a:pPr marL="228600" indent="-228600">
                  <a:spcAft>
                    <a:spcPts val="600"/>
                  </a:spcAft>
                  <a:buSzPct val="100000"/>
                  <a:buChar char="•"/>
                </a:pPr>
                <a:r>
                  <a:rPr lang="fr-FR" sz="1500">
                    <a:solidFill>
                      <a:srgbClr val="28304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Interpolation pour améliorer la précision</a:t>
                </a:r>
                <a:endParaRPr lang="en-US" sz="1500">
                  <a:solidFill>
                    <a:srgbClr val="28304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</p:txBody>
          </p:sp>
        </mc:Choice>
        <mc:Fallback xmlns=""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677" y="4046220"/>
                <a:ext cx="9390246" cy="2225040"/>
              </a:xfrm>
              <a:prstGeom prst="rect">
                <a:avLst/>
              </a:prstGeom>
              <a:blipFill>
                <a:blip r:embed="rId3"/>
                <a:stretch>
                  <a:fillRect l="-32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8"/>
          <p:cNvSpPr/>
          <p:nvPr/>
        </p:nvSpPr>
        <p:spPr>
          <a:xfrm>
            <a:off x="6995160" y="1417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Sorties utiles</a:t>
            </a:r>
            <a:endParaRPr lang="en-US" sz="1800"/>
          </a:p>
        </p:txBody>
      </p:sp>
      <p:sp>
        <p:nvSpPr>
          <p:cNvPr id="11" name="Shape 9"/>
          <p:cNvSpPr/>
          <p:nvPr/>
        </p:nvSpPr>
        <p:spPr>
          <a:xfrm>
            <a:off x="6537960" y="2086677"/>
            <a:ext cx="5303520" cy="1231232"/>
          </a:xfrm>
          <a:prstGeom prst="roundRect">
            <a:avLst/>
          </a:prstGeom>
          <a:solidFill>
            <a:srgbClr val="F6FA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903720" y="2330117"/>
            <a:ext cx="4800600" cy="689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</a:t>
            </a:r>
            <a:r>
              <a:rPr lang="en-US" sz="1500" err="1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détectée</a:t>
            </a:r>
            <a:endParaRPr lang="en-US" sz="150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err="1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</a:t>
            </a:r>
            <a:r>
              <a:rPr lang="en-US" sz="1500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</a:t>
            </a:r>
            <a:r>
              <a:rPr lang="en-US" sz="1500" err="1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500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centime)</a:t>
            </a:r>
            <a:endParaRPr lang="en-US" sz="1500"/>
          </a:p>
        </p:txBody>
      </p:sp>
      <p:sp>
        <p:nvSpPr>
          <p:cNvPr id="13" name="Shap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48640" y="6574536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Accordeur accessible — traitement</a:t>
            </a:r>
            <a:endParaRPr lang="en-US"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D6C7A-E26A-9092-5D21-87AAB7EA0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19C54AB-FB77-70F5-7B3C-C9961174F36A}"/>
              </a:ext>
            </a:extLst>
          </p:cNvPr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38CC68F-24A5-4625-89B1-AA9265ABB4AC}"/>
              </a:ext>
            </a:extLst>
          </p:cNvPr>
          <p:cNvSpPr/>
          <p:nvPr/>
        </p:nvSpPr>
        <p:spPr>
          <a:xfrm>
            <a:off x="548640" y="146304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3 — Feedback utilisateur</a:t>
            </a:r>
            <a:endParaRPr lang="en-US" sz="2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DF1A95A-2550-D5D0-6EF9-BA925BC2F560}"/>
              </a:ext>
            </a:extLst>
          </p:cNvPr>
          <p:cNvSpPr/>
          <p:nvPr/>
        </p:nvSpPr>
        <p:spPr>
          <a:xfrm>
            <a:off x="731520" y="1097280"/>
            <a:ext cx="4835091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EC5F20E-A99E-4574-6CD2-464DCAD10FE1}"/>
              </a:ext>
            </a:extLst>
          </p:cNvPr>
          <p:cNvSpPr/>
          <p:nvPr/>
        </p:nvSpPr>
        <p:spPr>
          <a:xfrm>
            <a:off x="1097280" y="13258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guider la correction</a:t>
            </a:r>
            <a:endParaRPr lang="en-US" sz="2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17BC592-49E2-E119-A603-565DEB2976D9}"/>
              </a:ext>
            </a:extLst>
          </p:cNvPr>
          <p:cNvSpPr/>
          <p:nvPr/>
        </p:nvSpPr>
        <p:spPr>
          <a:xfrm>
            <a:off x="1097280" y="1632204"/>
            <a:ext cx="6035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Indiquer la note + direction (trop bas / trop haut)</a:t>
            </a:r>
            <a:endParaRPr lang="en-US" sz="150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Confirmer quand la note est juste</a:t>
            </a:r>
            <a:endParaRPr lang="en-US" sz="15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C3FFB15-40CC-60A9-9771-EEB2BA84069A}"/>
              </a:ext>
            </a:extLst>
          </p:cNvPr>
          <p:cNvSpPr/>
          <p:nvPr/>
        </p:nvSpPr>
        <p:spPr>
          <a:xfrm>
            <a:off x="1097280" y="2802235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err="1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</a:t>
            </a:r>
            <a:r>
              <a:rPr lang="en-US" sz="1800" b="1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retour</a:t>
            </a:r>
            <a:endParaRPr lang="en-US" sz="18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EE1C4C2-0A1B-C3AB-F7D0-038F5F4D5DA8}"/>
              </a:ext>
            </a:extLst>
          </p:cNvPr>
          <p:cNvSpPr/>
          <p:nvPr/>
        </p:nvSpPr>
        <p:spPr>
          <a:xfrm>
            <a:off x="1097280" y="3158449"/>
            <a:ext cx="6035040" cy="7327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</a:t>
            </a:r>
            <a:r>
              <a:rPr lang="en-US" sz="1500" err="1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courte</a:t>
            </a:r>
            <a:r>
              <a:rPr lang="en-US" sz="1500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trop bas</a:t>
            </a:r>
            <a:endParaRPr lang="en-US" sz="150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longue : trop haut</a:t>
            </a:r>
            <a:endParaRPr lang="en-US" sz="150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DDF486D0-B53E-05E0-A484-DC13FDE4CFCD}"/>
              </a:ext>
            </a:extLst>
          </p:cNvPr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9B68FDE5-856B-F06A-A4B8-F5FAD2CC7F3A}"/>
              </a:ext>
            </a:extLst>
          </p:cNvPr>
          <p:cNvSpPr/>
          <p:nvPr/>
        </p:nvSpPr>
        <p:spPr>
          <a:xfrm>
            <a:off x="548640" y="6574536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Accordeur accessible — feedback</a:t>
            </a:r>
            <a:endParaRPr lang="en-US" sz="1200"/>
          </a:p>
        </p:txBody>
      </p:sp>
      <p:pic>
        <p:nvPicPr>
          <p:cNvPr id="15" name="Image 14" descr="Une image contenant texte, diagramme, ligne, Plan&#10;&#10;Le contenu généré par l’IA peut être incorrect.">
            <a:extLst>
              <a:ext uri="{FF2B5EF4-FFF2-40B4-BE49-F238E27FC236}">
                <a16:creationId xmlns:a16="http://schemas.microsoft.com/office/drawing/2014/main" id="{2BEC24BB-8643-4D17-B9BA-D9BE52BDF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7" y="2455473"/>
            <a:ext cx="5281303" cy="2606132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C74BBF21-F6EE-DFD0-7557-814F7901F7E2}"/>
              </a:ext>
            </a:extLst>
          </p:cNvPr>
          <p:cNvSpPr/>
          <p:nvPr/>
        </p:nvSpPr>
        <p:spPr>
          <a:xfrm>
            <a:off x="1097280" y="398181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+ </a:t>
            </a:r>
            <a:r>
              <a:rPr lang="en-US" sz="1800" b="1" err="1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</a:t>
            </a:r>
            <a:endParaRPr lang="en-US" sz="18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0FE8E2F-8674-0FDD-C9C2-47A35BA7B702}"/>
              </a:ext>
            </a:extLst>
          </p:cNvPr>
          <p:cNvSpPr/>
          <p:nvPr/>
        </p:nvSpPr>
        <p:spPr>
          <a:xfrm>
            <a:off x="1097280" y="4349817"/>
            <a:ext cx="3611880" cy="11895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ERM (DFR0440)</a:t>
            </a:r>
            <a:endParaRPr lang="en-US" sz="140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 (0x5A) + </a:t>
            </a:r>
            <a:r>
              <a:rPr lang="fr-FR" sz="1400"/>
              <a:t>PWM</a:t>
            </a:r>
            <a:r>
              <a:rPr lang="en-US" sz="1400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400" err="1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</a:t>
            </a:r>
            <a:r>
              <a:rPr lang="en-US" sz="1400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vibration)</a:t>
            </a:r>
            <a:endParaRPr lang="en-US" sz="1400"/>
          </a:p>
          <a:p>
            <a:pPr>
              <a:spcAft>
                <a:spcPts val="600"/>
              </a:spcAft>
              <a:buSzPct val="100000"/>
            </a:pP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167080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1115568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Bloc 4 — Alimentation</a:t>
            </a:r>
            <a:endParaRPr lang="en-US" sz="220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65836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</a:t>
            </a:r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1143000" y="182880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Autonomie sur batterie (usage nomade)</a:t>
            </a:r>
            <a:endParaRPr lang="en-US" sz="150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Recharge simple (USB)</a:t>
            </a:r>
            <a:endParaRPr lang="en-US" sz="150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 basse consommation quand inactif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1097280" y="338328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matériel (exemple)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1110803" y="3800341"/>
            <a:ext cx="6035040" cy="19457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 Li‑Ion / Li‑Po 1S</a:t>
            </a:r>
            <a:endParaRPr lang="en-US" sz="1500"/>
          </a:p>
          <a:p>
            <a:pPr marL="228600" indent="-228600">
              <a:spcAft>
                <a:spcPts val="600"/>
              </a:spcAft>
              <a:buSzPct val="100000"/>
              <a:buFontTx/>
              <a:buChar char="•"/>
            </a:pPr>
            <a:r>
              <a:rPr lang="en-US" sz="1500" err="1">
                <a:solidFill>
                  <a:srgbClr val="283041"/>
                </a:solidFill>
                <a:latin typeface="Calibri"/>
                <a:ea typeface="Calibri"/>
                <a:cs typeface="Calibri"/>
              </a:rPr>
              <a:t>Chargeur</a:t>
            </a:r>
            <a:r>
              <a:rPr lang="en-US" sz="1500">
                <a:solidFill>
                  <a:srgbClr val="283041"/>
                </a:solidFill>
                <a:latin typeface="Calibri"/>
                <a:ea typeface="Calibri"/>
                <a:cs typeface="Calibri"/>
              </a:rPr>
              <a:t> BQ25185DLHR (courant programmable, fin de charge)</a:t>
            </a:r>
            <a:endParaRPr lang="en-US" sz="1500">
              <a:latin typeface="Calibri"/>
              <a:ea typeface="Calibri"/>
              <a:cs typeface="Calibri"/>
            </a:endParaRP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err="1">
                <a:solidFill>
                  <a:srgbClr val="283041"/>
                </a:solidFill>
                <a:latin typeface="Calibri"/>
                <a:ea typeface="Calibri"/>
                <a:cs typeface="Calibri"/>
              </a:rPr>
              <a:t>Jauge</a:t>
            </a:r>
            <a:r>
              <a:rPr lang="en-US" sz="1500">
                <a:solidFill>
                  <a:srgbClr val="283041"/>
                </a:solidFill>
                <a:latin typeface="Calibri"/>
                <a:ea typeface="Calibri"/>
                <a:cs typeface="Calibri"/>
              </a:rPr>
              <a:t>  MAX17048G_10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err="1">
                <a:solidFill>
                  <a:srgbClr val="283041"/>
                </a:solidFill>
                <a:latin typeface="Calibri"/>
                <a:ea typeface="Calibri"/>
                <a:cs typeface="Calibri"/>
              </a:rPr>
              <a:t>Régulateur</a:t>
            </a:r>
            <a:r>
              <a:rPr lang="en-US" sz="1500">
                <a:solidFill>
                  <a:srgbClr val="283041"/>
                </a:solidFill>
                <a:latin typeface="Calibri"/>
                <a:ea typeface="Calibri"/>
                <a:cs typeface="Calibri"/>
              </a:rPr>
              <a:t> TPS63802DLAR Buck-boost 3.3V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endParaRPr lang="en-US" sz="1500">
              <a:solidFill>
                <a:srgbClr val="283041"/>
              </a:solidFill>
              <a:ea typeface="Calibri"/>
              <a:cs typeface="Calibri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548640" y="6574536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Accordeur accessible — alimentation</a:t>
            </a:r>
            <a:endParaRPr lang="en-US"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46A37-80C1-6921-650D-E8F3283AE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6B6B0F2-DA14-7007-7CBC-2857A99F94F2}"/>
              </a:ext>
            </a:extLst>
          </p:cNvPr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7E48171-9384-E569-8A50-EBC9D9F346BC}"/>
              </a:ext>
            </a:extLst>
          </p:cNvPr>
          <p:cNvSpPr/>
          <p:nvPr/>
        </p:nvSpPr>
        <p:spPr>
          <a:xfrm>
            <a:off x="548640" y="146304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5 — Alimentation &amp; autonomie</a:t>
            </a:r>
            <a:endParaRPr lang="en-US" sz="2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F097E3C-F4EC-76D5-A26A-1012F36E5DF9}"/>
              </a:ext>
            </a:extLst>
          </p:cNvPr>
          <p:cNvSpPr/>
          <p:nvPr/>
        </p:nvSpPr>
        <p:spPr>
          <a:xfrm>
            <a:off x="188726" y="878075"/>
            <a:ext cx="11865487" cy="56976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6301EBFE-6155-1149-C810-624F1E4255C0}"/>
              </a:ext>
            </a:extLst>
          </p:cNvPr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A1AFA2F-E09A-92B3-76C5-AB71A7CCA54A}"/>
              </a:ext>
            </a:extLst>
          </p:cNvPr>
          <p:cNvSpPr/>
          <p:nvPr/>
        </p:nvSpPr>
        <p:spPr>
          <a:xfrm>
            <a:off x="548640" y="6574536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Accordeur accessible — alimentation</a:t>
            </a:r>
            <a:endParaRPr lang="en-US" sz="12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1D75290-EF9F-2C4A-31E6-4ACD0C745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5000" y="877278"/>
            <a:ext cx="6288850" cy="28591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4C4D153-CEBA-0527-27CF-4B27C83EB9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4732" y="3760873"/>
            <a:ext cx="5389847" cy="281235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90DAF78-A9C1-F5FD-017F-F9E5D3E7FE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5342" y="3794799"/>
            <a:ext cx="3920125" cy="27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950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</a:t>
            </a:r>
            <a:endParaRPr lang="en-US" sz="220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48640" y="6574536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Accordeur accessible — flux</a:t>
            </a:r>
            <a:endParaRPr lang="en-US" sz="120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7BACDA6-A2B7-E0DC-7AED-98F073288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462" y="1900563"/>
            <a:ext cx="5636583" cy="430947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65199D9-723D-5B31-B27B-A3577D049B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319" y="817584"/>
            <a:ext cx="5867531" cy="4472837"/>
          </a:xfrm>
          <a:prstGeom prst="rect">
            <a:avLst/>
          </a:prstGeom>
        </p:spPr>
      </p:pic>
      <p:sp>
        <p:nvSpPr>
          <p:cNvPr id="29" name="Text 5">
            <a:extLst>
              <a:ext uri="{FF2B5EF4-FFF2-40B4-BE49-F238E27FC236}">
                <a16:creationId xmlns:a16="http://schemas.microsoft.com/office/drawing/2014/main" id="{BC2E7621-07EB-1761-07EF-7EB39994751F}"/>
              </a:ext>
            </a:extLst>
          </p:cNvPr>
          <p:cNvSpPr/>
          <p:nvPr/>
        </p:nvSpPr>
        <p:spPr>
          <a:xfrm>
            <a:off x="867636" y="5512705"/>
            <a:ext cx="603504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b="1">
                <a:solidFill>
                  <a:srgbClr val="0B1F3B"/>
                </a:solidFill>
                <a:latin typeface="Calibri"/>
                <a:ea typeface="Calibri"/>
                <a:cs typeface="Calibri"/>
              </a:rPr>
              <a:t>Face avant</a:t>
            </a:r>
            <a:endParaRPr lang="en-US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049B938C-73F4-86AA-9FCD-E7D894819E84}"/>
              </a:ext>
            </a:extLst>
          </p:cNvPr>
          <p:cNvSpPr/>
          <p:nvPr/>
        </p:nvSpPr>
        <p:spPr>
          <a:xfrm>
            <a:off x="8675525" y="1483499"/>
            <a:ext cx="603504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b="1">
                <a:solidFill>
                  <a:srgbClr val="0B1F3B"/>
                </a:solidFill>
                <a:latin typeface="Calibri"/>
                <a:ea typeface="Calibri"/>
                <a:cs typeface="Calibri"/>
              </a:rPr>
              <a:t>Face arrière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1234440" y="141732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/>
          </a:p>
        </p:txBody>
      </p:sp>
      <p:sp>
        <p:nvSpPr>
          <p:cNvPr id="4" name="Text 2"/>
          <p:cNvSpPr/>
          <p:nvPr/>
        </p:nvSpPr>
        <p:spPr>
          <a:xfrm>
            <a:off x="1325880" y="2240280"/>
            <a:ext cx="9966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800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accordeur pensé pour l’accessibilité : audio + haptique</a:t>
            </a:r>
            <a:endParaRPr lang="en-US" sz="180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800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modulaire : acquisition → DSP → feedback</a:t>
            </a:r>
            <a:endParaRPr lang="en-US" sz="180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800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matérielle : ESP32 + capteur + driver haptique + batterie</a:t>
            </a:r>
            <a:endParaRPr lang="en-US" sz="180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800">
                <a:solidFill>
                  <a:srgbClr val="283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 : tests utilisateurs, calibration, miniaturisation</a:t>
            </a:r>
            <a:endParaRPr lang="en-US" sz="1800"/>
          </a:p>
        </p:txBody>
      </p:sp>
      <p:sp>
        <p:nvSpPr>
          <p:cNvPr id="5" name="Text 3"/>
          <p:cNvSpPr/>
          <p:nvPr/>
        </p:nvSpPr>
        <p:spPr>
          <a:xfrm>
            <a:off x="1234440" y="562356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!</a:t>
            </a:r>
            <a:endParaRPr lang="en-US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825ac0e-b698-4a49-bd62-eae634dc9ec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289F78B450914B94CDF5425A197243" ma:contentTypeVersion="6" ma:contentTypeDescription="Crée un document." ma:contentTypeScope="" ma:versionID="7e7c4bff0ac4ac49d2aaf4990bf79fb8">
  <xsd:schema xmlns:xsd="http://www.w3.org/2001/XMLSchema" xmlns:xs="http://www.w3.org/2001/XMLSchema" xmlns:p="http://schemas.microsoft.com/office/2006/metadata/properties" xmlns:ns3="7825ac0e-b698-4a49-bd62-eae634dc9ec5" targetNamespace="http://schemas.microsoft.com/office/2006/metadata/properties" ma:root="true" ma:fieldsID="2604286ee9a1e620b4ad47de323ef0e2" ns3:_="">
    <xsd:import namespace="7825ac0e-b698-4a49-bd62-eae634dc9e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25ac0e-b698-4a49-bd62-eae634dc9e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40A9790-6745-472B-9430-9677323700E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954EA21-BC1A-49E7-B5B0-A673775A9751}">
  <ds:schemaRefs>
    <ds:schemaRef ds:uri="http://schemas.microsoft.com/office/2006/metadata/properties"/>
    <ds:schemaRef ds:uri="http://purl.org/dc/dcmitype/"/>
    <ds:schemaRef ds:uri="http://schemas.microsoft.com/office/2006/documentManagement/types"/>
    <ds:schemaRef ds:uri="http://www.w3.org/XML/1998/namespace"/>
    <ds:schemaRef ds:uri="http://purl.org/dc/elements/1.1/"/>
    <ds:schemaRef ds:uri="7825ac0e-b698-4a49-bd62-eae634dc9ec5"/>
    <ds:schemaRef ds:uri="http://schemas.openxmlformats.org/package/2006/metadata/core-properties"/>
    <ds:schemaRef ds:uri="http://schemas.microsoft.com/office/infopath/2007/PartnerControl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483ABE7-4E2A-4E79-AA44-FB3CD129A902}">
  <ds:schemaRefs>
    <ds:schemaRef ds:uri="7825ac0e-b698-4a49-bd62-eae634dc9e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1803</Words>
  <Application>Microsoft Office PowerPoint</Application>
  <PresentationFormat>Grand écran</PresentationFormat>
  <Paragraphs>155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 Math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Mon projet</dc:creator>
  <cp:lastModifiedBy>Laurye Manuelle Wafeu Cheko</cp:lastModifiedBy>
  <cp:revision>2</cp:revision>
  <dcterms:created xsi:type="dcterms:W3CDTF">2026-02-24T04:35:05Z</dcterms:created>
  <dcterms:modified xsi:type="dcterms:W3CDTF">2026-02-24T16:40:16Z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0x01010012289F78B450914B94CDF5425A197243</vt:lpwstr>
  </property>
</Properties>
</file>